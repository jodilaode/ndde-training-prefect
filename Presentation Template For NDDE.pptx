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61" r:id="rId3"/>
    <p:sldId id="260" r:id="rId4"/>
    <p:sldId id="263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55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68" autoAdjust="0"/>
    <p:restoredTop sz="94694"/>
  </p:normalViewPr>
  <p:slideViewPr>
    <p:cSldViewPr snapToGrid="0">
      <p:cViewPr>
        <p:scale>
          <a:sx n="75" d="100"/>
          <a:sy n="75" d="100"/>
        </p:scale>
        <p:origin x="75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4834B-A6A8-8A4C-89A5-2E8ECC3F589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A782A1-ADF1-A248-AB16-85737CB72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401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Analysis of the level of efficiency of poly services at XYZ hospital using the CCR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782A1-ADF1-A248-AB16-85737CB72F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045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782A1-ADF1-A248-AB16-85737CB72FF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355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04646-5CDF-4BFD-91B8-2314402922F3}" type="slidenum">
              <a:rPr kumimoji="0" lang="en-ID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D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96316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5D32-2EFC-4280-A135-0DD1E7ABDFE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29F8F-412D-4D34-B2F1-090279D48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32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5D32-2EFC-4280-A135-0DD1E7ABDFE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29F8F-412D-4D34-B2F1-090279D48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654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5D32-2EFC-4280-A135-0DD1E7ABDFE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29F8F-412D-4D34-B2F1-090279D48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777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5D32-2EFC-4280-A135-0DD1E7ABDFE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29F8F-412D-4D34-B2F1-090279D48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572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5D32-2EFC-4280-A135-0DD1E7ABDFE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29F8F-412D-4D34-B2F1-090279D48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54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5D32-2EFC-4280-A135-0DD1E7ABDFE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29F8F-412D-4D34-B2F1-090279D48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52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5D32-2EFC-4280-A135-0DD1E7ABDFE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29F8F-412D-4D34-B2F1-090279D48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950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5D32-2EFC-4280-A135-0DD1E7ABDFE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29F8F-412D-4D34-B2F1-090279D48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92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5D32-2EFC-4280-A135-0DD1E7ABDFE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29F8F-412D-4D34-B2F1-090279D48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1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5D32-2EFC-4280-A135-0DD1E7ABDFE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29F8F-412D-4D34-B2F1-090279D48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7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5D32-2EFC-4280-A135-0DD1E7ABDFE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29F8F-412D-4D34-B2F1-090279D48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03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05D32-2EFC-4280-A135-0DD1E7ABDFE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29F8F-412D-4D34-B2F1-090279D48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829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212AC6F-0F3A-4EB0-8D0C-1F807379D8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1"/>
            <a:ext cx="12192000" cy="6854573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1B61182-5A5C-4A45-A699-B948EB8B9E0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31" t="8329" r="69" b="-2397"/>
          <a:stretch/>
        </p:blipFill>
        <p:spPr>
          <a:xfrm>
            <a:off x="2000064" y="1440347"/>
            <a:ext cx="8191872" cy="3977303"/>
          </a:xfrm>
          <a:prstGeom prst="rect">
            <a:avLst/>
          </a:prstGeom>
        </p:spPr>
      </p:pic>
      <p:sp>
        <p:nvSpPr>
          <p:cNvPr id="146" name="TextBox 145">
            <a:extLst>
              <a:ext uri="{FF2B5EF4-FFF2-40B4-BE49-F238E27FC236}">
                <a16:creationId xmlns:a16="http://schemas.microsoft.com/office/drawing/2014/main" id="{4B16961D-6BB1-4FA8-8935-3647114EA275}"/>
              </a:ext>
            </a:extLst>
          </p:cNvPr>
          <p:cNvSpPr txBox="1"/>
          <p:nvPr/>
        </p:nvSpPr>
        <p:spPr>
          <a:xfrm>
            <a:off x="2430365" y="5553606"/>
            <a:ext cx="73312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0355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Title</a:t>
            </a:r>
            <a:endParaRPr lang="en-GB" sz="3000" b="1" dirty="0">
              <a:solidFill>
                <a:srgbClr val="03558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A496D3-ADD1-B6C4-1673-511E905F6397}"/>
              </a:ext>
            </a:extLst>
          </p:cNvPr>
          <p:cNvSpPr txBox="1"/>
          <p:nvPr/>
        </p:nvSpPr>
        <p:spPr>
          <a:xfrm>
            <a:off x="3223914" y="6396335"/>
            <a:ext cx="5744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Roboto" panose="02000000000000000000"/>
                <a:ea typeface="Gill Sans MT" pitchFamily="34" charset="0"/>
                <a:cs typeface="Gill Sans MT" pitchFamily="34" charset="0"/>
                <a:sym typeface="Gill Sans MT" pitchFamily="34" charset="0"/>
              </a:rPr>
              <a:t>CONFIDENTIAL AND PROPRIETARY © 2026  PT CYBERTREND INTRABUANA</a:t>
            </a:r>
            <a:endParaRPr lang="en-US" altLang="en-US" sz="800" b="1" dirty="0">
              <a:solidFill>
                <a:schemeClr val="accent1">
                  <a:lumMod val="75000"/>
                </a:schemeClr>
              </a:solidFill>
              <a:latin typeface="Roboto" panose="02000000000000000000"/>
              <a:ea typeface="Gill Sans MT" pitchFamily="34" charset="0"/>
              <a:cs typeface="Gill Sans MT" pitchFamily="34" charset="0"/>
              <a:sym typeface="Gill Sans MT" pitchFamily="34" charset="0"/>
            </a:endParaRPr>
          </a:p>
          <a:p>
            <a:pPr algn="ctr" defTabSz="914400"/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Roboto" panose="02000000000000000000"/>
                <a:ea typeface="Gill Sans MT" pitchFamily="34" charset="0"/>
                <a:cs typeface="Gill Sans MT" pitchFamily="34" charset="0"/>
                <a:sym typeface="Gill Sans MT" pitchFamily="34" charset="0"/>
              </a:rPr>
              <a:t>Copying in whole or in part is strictly forbidden without prior written approval</a:t>
            </a:r>
            <a:endParaRPr lang="en-US" altLang="en-US" sz="800" dirty="0">
              <a:solidFill>
                <a:schemeClr val="accent1">
                  <a:lumMod val="75000"/>
                </a:schemeClr>
              </a:solidFill>
              <a:latin typeface="Roboto" panose="02000000000000000000"/>
            </a:endParaRPr>
          </a:p>
          <a:p>
            <a:pPr algn="ctr" defTabSz="914400"/>
            <a:endParaRPr lang="en-US" sz="800" dirty="0">
              <a:solidFill>
                <a:schemeClr val="accent1">
                  <a:lumMod val="75000"/>
                </a:schemeClr>
              </a:solidFill>
              <a:latin typeface="Roboto" panose="0200000000000000000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85696BA-2178-5AFE-5F70-FA667BF8FDEB}"/>
              </a:ext>
            </a:extLst>
          </p:cNvPr>
          <p:cNvGrpSpPr/>
          <p:nvPr/>
        </p:nvGrpSpPr>
        <p:grpSpPr>
          <a:xfrm>
            <a:off x="174330" y="13502"/>
            <a:ext cx="3651468" cy="811444"/>
            <a:chOff x="223846" y="52156"/>
            <a:chExt cx="4520823" cy="981584"/>
          </a:xfrm>
        </p:grpSpPr>
        <p:pic>
          <p:nvPicPr>
            <p:cNvPr id="1026" name="Picture 2" descr="MyValue: Info Promo Gramedia, Amaris, Santika, dan Rekanan KG">
              <a:extLst>
                <a:ext uri="{FF2B5EF4-FFF2-40B4-BE49-F238E27FC236}">
                  <a16:creationId xmlns:a16="http://schemas.microsoft.com/office/drawing/2014/main" id="{082697AC-A9F2-2D03-EA80-CC0D4ACB7D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1529" y="293871"/>
              <a:ext cx="1299350" cy="3648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Makara UI Academy">
              <a:extLst>
                <a:ext uri="{FF2B5EF4-FFF2-40B4-BE49-F238E27FC236}">
                  <a16:creationId xmlns:a16="http://schemas.microsoft.com/office/drawing/2014/main" id="{C4051DDA-0204-4568-ED27-41E832371A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4725" y="52156"/>
              <a:ext cx="1189944" cy="981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A blue and white logo&#10;&#10;Description automatically generated">
              <a:extLst>
                <a:ext uri="{FF2B5EF4-FFF2-40B4-BE49-F238E27FC236}">
                  <a16:creationId xmlns:a16="http://schemas.microsoft.com/office/drawing/2014/main" id="{2E1234D3-FFC1-6533-984D-A4BC371F9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3846" y="154231"/>
              <a:ext cx="1583837" cy="6440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29255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784" y="821756"/>
            <a:ext cx="9110432" cy="1115412"/>
          </a:xfrm>
          <a:prstGeom prst="rect">
            <a:avLst/>
          </a:prstGeom>
        </p:spPr>
        <p:txBody>
          <a:bodyPr vert="horz" wrap="square" lIns="0" tIns="495533" rIns="0" bIns="0" rtlCol="0">
            <a:spAutoFit/>
          </a:bodyPr>
          <a:lstStyle/>
          <a:p>
            <a:pPr marL="31749">
              <a:spcBef>
                <a:spcPts val="83"/>
              </a:spcBef>
            </a:pPr>
            <a:r>
              <a:rPr b="1" spc="-246" dirty="0">
                <a:solidFill>
                  <a:srgbClr val="0355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Course</a:t>
            </a:r>
            <a:r>
              <a:rPr b="1" spc="-271" dirty="0">
                <a:solidFill>
                  <a:srgbClr val="0355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b="1" spc="-167" dirty="0">
                <a:solidFill>
                  <a:srgbClr val="0355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Overview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57522" y="2320037"/>
            <a:ext cx="971021" cy="3088217"/>
            <a:chOff x="789026" y="2784044"/>
            <a:chExt cx="1165225" cy="3705860"/>
          </a:xfrm>
        </p:grpSpPr>
        <p:sp>
          <p:nvSpPr>
            <p:cNvPr id="4" name="object 4"/>
            <p:cNvSpPr/>
            <p:nvPr/>
          </p:nvSpPr>
          <p:spPr>
            <a:xfrm>
              <a:off x="1048931" y="2788805"/>
              <a:ext cx="905510" cy="3701415"/>
            </a:xfrm>
            <a:custGeom>
              <a:avLst/>
              <a:gdLst/>
              <a:ahLst/>
              <a:cxnLst/>
              <a:rect l="l" t="t" r="r" b="b"/>
              <a:pathLst>
                <a:path w="905510" h="3701415">
                  <a:moveTo>
                    <a:pt x="30480" y="6819"/>
                  </a:moveTo>
                  <a:lnTo>
                    <a:pt x="23660" y="0"/>
                  </a:lnTo>
                  <a:lnTo>
                    <a:pt x="6819" y="0"/>
                  </a:lnTo>
                  <a:lnTo>
                    <a:pt x="0" y="6819"/>
                  </a:lnTo>
                  <a:lnTo>
                    <a:pt x="0" y="15240"/>
                  </a:lnTo>
                  <a:lnTo>
                    <a:pt x="0" y="3693998"/>
                  </a:lnTo>
                  <a:lnTo>
                    <a:pt x="6819" y="3700818"/>
                  </a:lnTo>
                  <a:lnTo>
                    <a:pt x="23660" y="3700818"/>
                  </a:lnTo>
                  <a:lnTo>
                    <a:pt x="30480" y="3693998"/>
                  </a:lnTo>
                  <a:lnTo>
                    <a:pt x="30480" y="6819"/>
                  </a:lnTo>
                  <a:close/>
                </a:path>
                <a:path w="905510" h="3701415">
                  <a:moveTo>
                    <a:pt x="905116" y="246735"/>
                  </a:moveTo>
                  <a:lnTo>
                    <a:pt x="898296" y="239915"/>
                  </a:lnTo>
                  <a:lnTo>
                    <a:pt x="231495" y="239915"/>
                  </a:lnTo>
                  <a:lnTo>
                    <a:pt x="224675" y="246735"/>
                  </a:lnTo>
                  <a:lnTo>
                    <a:pt x="224675" y="255155"/>
                  </a:lnTo>
                  <a:lnTo>
                    <a:pt x="224675" y="263575"/>
                  </a:lnTo>
                  <a:lnTo>
                    <a:pt x="231495" y="270395"/>
                  </a:lnTo>
                  <a:lnTo>
                    <a:pt x="898296" y="270395"/>
                  </a:lnTo>
                  <a:lnTo>
                    <a:pt x="905116" y="263575"/>
                  </a:lnTo>
                  <a:lnTo>
                    <a:pt x="905116" y="246735"/>
                  </a:lnTo>
                  <a:close/>
                </a:path>
              </a:pathLst>
            </a:custGeom>
            <a:solidFill>
              <a:srgbClr val="C7C8CF"/>
            </a:solidFill>
          </p:spPr>
          <p:txBody>
            <a:bodyPr wrap="square" lIns="0" tIns="0" rIns="0" bIns="0" rtlCol="0"/>
            <a:lstStyle/>
            <a:p>
              <a:pPr defTabSz="761970"/>
              <a:endParaRPr sz="15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93789" y="2788806"/>
              <a:ext cx="510540" cy="510540"/>
            </a:xfrm>
            <a:custGeom>
              <a:avLst/>
              <a:gdLst/>
              <a:ahLst/>
              <a:cxnLst/>
              <a:rect l="l" t="t" r="r" b="b"/>
              <a:pathLst>
                <a:path w="510540" h="510539">
                  <a:moveTo>
                    <a:pt x="415036" y="0"/>
                  </a:moveTo>
                  <a:lnTo>
                    <a:pt x="95262" y="0"/>
                  </a:lnTo>
                  <a:lnTo>
                    <a:pt x="58185" y="7485"/>
                  </a:lnTo>
                  <a:lnTo>
                    <a:pt x="27905" y="27900"/>
                  </a:lnTo>
                  <a:lnTo>
                    <a:pt x="7487" y="58180"/>
                  </a:lnTo>
                  <a:lnTo>
                    <a:pt x="0" y="95262"/>
                  </a:lnTo>
                  <a:lnTo>
                    <a:pt x="0" y="415023"/>
                  </a:lnTo>
                  <a:lnTo>
                    <a:pt x="7487" y="452107"/>
                  </a:lnTo>
                  <a:lnTo>
                    <a:pt x="27905" y="482392"/>
                  </a:lnTo>
                  <a:lnTo>
                    <a:pt x="58185" y="502811"/>
                  </a:lnTo>
                  <a:lnTo>
                    <a:pt x="95262" y="510298"/>
                  </a:lnTo>
                  <a:lnTo>
                    <a:pt x="415036" y="510298"/>
                  </a:lnTo>
                  <a:lnTo>
                    <a:pt x="452118" y="502811"/>
                  </a:lnTo>
                  <a:lnTo>
                    <a:pt x="482398" y="482392"/>
                  </a:lnTo>
                  <a:lnTo>
                    <a:pt x="502813" y="452107"/>
                  </a:lnTo>
                  <a:lnTo>
                    <a:pt x="510298" y="415023"/>
                  </a:lnTo>
                  <a:lnTo>
                    <a:pt x="510298" y="95262"/>
                  </a:lnTo>
                  <a:lnTo>
                    <a:pt x="502813" y="58180"/>
                  </a:lnTo>
                  <a:lnTo>
                    <a:pt x="482398" y="27900"/>
                  </a:lnTo>
                  <a:lnTo>
                    <a:pt x="452118" y="7485"/>
                  </a:lnTo>
                  <a:lnTo>
                    <a:pt x="415036" y="0"/>
                  </a:lnTo>
                  <a:close/>
                </a:path>
              </a:pathLst>
            </a:custGeom>
            <a:solidFill>
              <a:srgbClr val="E1E2E9"/>
            </a:solidFill>
          </p:spPr>
          <p:txBody>
            <a:bodyPr wrap="square" lIns="0" tIns="0" rIns="0" bIns="0" rtlCol="0"/>
            <a:lstStyle/>
            <a:p>
              <a:pPr defTabSz="761970"/>
              <a:endParaRPr sz="15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793789" y="2788806"/>
              <a:ext cx="510540" cy="510540"/>
            </a:xfrm>
            <a:custGeom>
              <a:avLst/>
              <a:gdLst/>
              <a:ahLst/>
              <a:cxnLst/>
              <a:rect l="l" t="t" r="r" b="b"/>
              <a:pathLst>
                <a:path w="510540" h="510539">
                  <a:moveTo>
                    <a:pt x="0" y="95262"/>
                  </a:moveTo>
                  <a:lnTo>
                    <a:pt x="7487" y="58180"/>
                  </a:lnTo>
                  <a:lnTo>
                    <a:pt x="27905" y="27900"/>
                  </a:lnTo>
                  <a:lnTo>
                    <a:pt x="58185" y="7485"/>
                  </a:lnTo>
                  <a:lnTo>
                    <a:pt x="95262" y="0"/>
                  </a:lnTo>
                  <a:lnTo>
                    <a:pt x="415036" y="0"/>
                  </a:lnTo>
                  <a:lnTo>
                    <a:pt x="452118" y="7485"/>
                  </a:lnTo>
                  <a:lnTo>
                    <a:pt x="482398" y="27900"/>
                  </a:lnTo>
                  <a:lnTo>
                    <a:pt x="502813" y="58180"/>
                  </a:lnTo>
                  <a:lnTo>
                    <a:pt x="510298" y="95262"/>
                  </a:lnTo>
                  <a:lnTo>
                    <a:pt x="510298" y="415023"/>
                  </a:lnTo>
                  <a:lnTo>
                    <a:pt x="502813" y="452107"/>
                  </a:lnTo>
                  <a:lnTo>
                    <a:pt x="482398" y="482392"/>
                  </a:lnTo>
                  <a:lnTo>
                    <a:pt x="452118" y="502811"/>
                  </a:lnTo>
                  <a:lnTo>
                    <a:pt x="415036" y="510298"/>
                  </a:lnTo>
                  <a:lnTo>
                    <a:pt x="95262" y="510298"/>
                  </a:lnTo>
                  <a:lnTo>
                    <a:pt x="58185" y="502811"/>
                  </a:lnTo>
                  <a:lnTo>
                    <a:pt x="27905" y="482392"/>
                  </a:lnTo>
                  <a:lnTo>
                    <a:pt x="7487" y="452107"/>
                  </a:lnTo>
                  <a:lnTo>
                    <a:pt x="0" y="415023"/>
                  </a:lnTo>
                  <a:lnTo>
                    <a:pt x="0" y="95262"/>
                  </a:lnTo>
                  <a:close/>
                </a:path>
              </a:pathLst>
            </a:custGeom>
            <a:ln w="9525">
              <a:solidFill>
                <a:srgbClr val="C7C8CF"/>
              </a:solidFill>
            </a:ln>
          </p:spPr>
          <p:txBody>
            <a:bodyPr wrap="square" lIns="0" tIns="0" rIns="0" bIns="0" rtlCol="0"/>
            <a:lstStyle/>
            <a:p>
              <a:pPr defTabSz="761970"/>
              <a:endParaRPr sz="15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82969" y="2332329"/>
            <a:ext cx="181503" cy="350459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marL="10583" defTabSz="761970">
              <a:spcBef>
                <a:spcPts val="83"/>
              </a:spcBef>
            </a:pPr>
            <a:r>
              <a:rPr sz="2208" kern="0" spc="-262" dirty="0">
                <a:solidFill>
                  <a:sysClr val="windowText" lastClr="000000"/>
                </a:solidFill>
                <a:latin typeface="Arial Black"/>
                <a:cs typeface="Arial Black"/>
              </a:rPr>
              <a:t>1</a:t>
            </a:r>
            <a:endParaRPr sz="2208" kern="0">
              <a:solidFill>
                <a:sysClr val="windowText" lastClr="000000"/>
              </a:solidFill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08592" y="2407516"/>
            <a:ext cx="4045479" cy="708933"/>
          </a:xfrm>
          <a:prstGeom prst="rect">
            <a:avLst/>
          </a:prstGeom>
        </p:spPr>
        <p:txBody>
          <a:bodyPr vert="horz" wrap="square" lIns="0" tIns="10054" rIns="0" bIns="0" rtlCol="0">
            <a:spAutoFit/>
          </a:bodyPr>
          <a:lstStyle/>
          <a:p>
            <a:pPr marL="10583" defTabSz="761970">
              <a:spcBef>
                <a:spcPts val="79"/>
              </a:spcBef>
            </a:pPr>
            <a:r>
              <a:rPr sz="1833" b="1" kern="0" spc="-108" dirty="0">
                <a:solidFill>
                  <a:srgbClr val="0355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Day</a:t>
            </a:r>
            <a:r>
              <a:rPr sz="1833" b="1" kern="0" spc="-112" dirty="0">
                <a:solidFill>
                  <a:srgbClr val="0355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1833" b="1" kern="0" spc="-42" dirty="0">
                <a:solidFill>
                  <a:srgbClr val="0355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  <a:endParaRPr sz="1833" b="1" kern="0" dirty="0">
              <a:solidFill>
                <a:srgbClr val="03558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0583" defTabSz="761970">
              <a:spcBef>
                <a:spcPts val="1470"/>
              </a:spcBef>
            </a:pPr>
            <a:r>
              <a:rPr lang="en-ID" sz="1458" kern="0" spc="62" dirty="0">
                <a:solidFill>
                  <a:srgbClr val="0355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57522" y="3474050"/>
            <a:ext cx="971021" cy="433388"/>
            <a:chOff x="789026" y="4168860"/>
            <a:chExt cx="1165225" cy="520065"/>
          </a:xfrm>
        </p:grpSpPr>
        <p:sp>
          <p:nvSpPr>
            <p:cNvPr id="10" name="object 10"/>
            <p:cNvSpPr/>
            <p:nvPr/>
          </p:nvSpPr>
          <p:spPr>
            <a:xfrm>
              <a:off x="1273611" y="4413528"/>
              <a:ext cx="680720" cy="30480"/>
            </a:xfrm>
            <a:custGeom>
              <a:avLst/>
              <a:gdLst/>
              <a:ahLst/>
              <a:cxnLst/>
              <a:rect l="l" t="t" r="r" b="b"/>
              <a:pathLst>
                <a:path w="680719" h="30479">
                  <a:moveTo>
                    <a:pt x="673620" y="0"/>
                  </a:moveTo>
                  <a:lnTo>
                    <a:pt x="6819" y="0"/>
                  </a:lnTo>
                  <a:lnTo>
                    <a:pt x="0" y="6819"/>
                  </a:lnTo>
                  <a:lnTo>
                    <a:pt x="0" y="15239"/>
                  </a:lnTo>
                  <a:lnTo>
                    <a:pt x="0" y="23660"/>
                  </a:lnTo>
                  <a:lnTo>
                    <a:pt x="6819" y="30479"/>
                  </a:lnTo>
                  <a:lnTo>
                    <a:pt x="673620" y="30479"/>
                  </a:lnTo>
                  <a:lnTo>
                    <a:pt x="680440" y="23660"/>
                  </a:lnTo>
                  <a:lnTo>
                    <a:pt x="680440" y="6819"/>
                  </a:lnTo>
                  <a:lnTo>
                    <a:pt x="673620" y="0"/>
                  </a:lnTo>
                  <a:close/>
                </a:path>
              </a:pathLst>
            </a:custGeom>
            <a:solidFill>
              <a:srgbClr val="C7C8CF"/>
            </a:solidFill>
          </p:spPr>
          <p:txBody>
            <a:bodyPr wrap="square" lIns="0" tIns="0" rIns="0" bIns="0" rtlCol="0"/>
            <a:lstStyle/>
            <a:p>
              <a:pPr defTabSz="761970"/>
              <a:endParaRPr sz="15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93789" y="4173622"/>
              <a:ext cx="510540" cy="510540"/>
            </a:xfrm>
            <a:custGeom>
              <a:avLst/>
              <a:gdLst/>
              <a:ahLst/>
              <a:cxnLst/>
              <a:rect l="l" t="t" r="r" b="b"/>
              <a:pathLst>
                <a:path w="510540" h="510539">
                  <a:moveTo>
                    <a:pt x="415036" y="0"/>
                  </a:moveTo>
                  <a:lnTo>
                    <a:pt x="95262" y="0"/>
                  </a:lnTo>
                  <a:lnTo>
                    <a:pt x="58185" y="7485"/>
                  </a:lnTo>
                  <a:lnTo>
                    <a:pt x="27905" y="27900"/>
                  </a:lnTo>
                  <a:lnTo>
                    <a:pt x="7487" y="58180"/>
                  </a:lnTo>
                  <a:lnTo>
                    <a:pt x="0" y="95262"/>
                  </a:lnTo>
                  <a:lnTo>
                    <a:pt x="0" y="415023"/>
                  </a:lnTo>
                  <a:lnTo>
                    <a:pt x="7487" y="452107"/>
                  </a:lnTo>
                  <a:lnTo>
                    <a:pt x="27905" y="482392"/>
                  </a:lnTo>
                  <a:lnTo>
                    <a:pt x="58185" y="502811"/>
                  </a:lnTo>
                  <a:lnTo>
                    <a:pt x="95262" y="510298"/>
                  </a:lnTo>
                  <a:lnTo>
                    <a:pt x="415036" y="510298"/>
                  </a:lnTo>
                  <a:lnTo>
                    <a:pt x="452118" y="502811"/>
                  </a:lnTo>
                  <a:lnTo>
                    <a:pt x="482398" y="482392"/>
                  </a:lnTo>
                  <a:lnTo>
                    <a:pt x="502813" y="452107"/>
                  </a:lnTo>
                  <a:lnTo>
                    <a:pt x="510298" y="415023"/>
                  </a:lnTo>
                  <a:lnTo>
                    <a:pt x="510298" y="95262"/>
                  </a:lnTo>
                  <a:lnTo>
                    <a:pt x="502813" y="58180"/>
                  </a:lnTo>
                  <a:lnTo>
                    <a:pt x="482398" y="27900"/>
                  </a:lnTo>
                  <a:lnTo>
                    <a:pt x="452118" y="7485"/>
                  </a:lnTo>
                  <a:lnTo>
                    <a:pt x="415036" y="0"/>
                  </a:lnTo>
                  <a:close/>
                </a:path>
              </a:pathLst>
            </a:custGeom>
            <a:solidFill>
              <a:srgbClr val="E1E2E9"/>
            </a:solidFill>
          </p:spPr>
          <p:txBody>
            <a:bodyPr wrap="square" lIns="0" tIns="0" rIns="0" bIns="0" rtlCol="0"/>
            <a:lstStyle/>
            <a:p>
              <a:pPr defTabSz="761970"/>
              <a:endParaRPr sz="15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793789" y="4173622"/>
              <a:ext cx="510540" cy="510540"/>
            </a:xfrm>
            <a:custGeom>
              <a:avLst/>
              <a:gdLst/>
              <a:ahLst/>
              <a:cxnLst/>
              <a:rect l="l" t="t" r="r" b="b"/>
              <a:pathLst>
                <a:path w="510540" h="510539">
                  <a:moveTo>
                    <a:pt x="0" y="95262"/>
                  </a:moveTo>
                  <a:lnTo>
                    <a:pt x="7487" y="58180"/>
                  </a:lnTo>
                  <a:lnTo>
                    <a:pt x="27905" y="27900"/>
                  </a:lnTo>
                  <a:lnTo>
                    <a:pt x="58185" y="7485"/>
                  </a:lnTo>
                  <a:lnTo>
                    <a:pt x="95262" y="0"/>
                  </a:lnTo>
                  <a:lnTo>
                    <a:pt x="415036" y="0"/>
                  </a:lnTo>
                  <a:lnTo>
                    <a:pt x="452118" y="7485"/>
                  </a:lnTo>
                  <a:lnTo>
                    <a:pt x="482398" y="27900"/>
                  </a:lnTo>
                  <a:lnTo>
                    <a:pt x="502813" y="58180"/>
                  </a:lnTo>
                  <a:lnTo>
                    <a:pt x="510298" y="95262"/>
                  </a:lnTo>
                  <a:lnTo>
                    <a:pt x="510298" y="415023"/>
                  </a:lnTo>
                  <a:lnTo>
                    <a:pt x="502813" y="452107"/>
                  </a:lnTo>
                  <a:lnTo>
                    <a:pt x="482398" y="482392"/>
                  </a:lnTo>
                  <a:lnTo>
                    <a:pt x="452118" y="502811"/>
                  </a:lnTo>
                  <a:lnTo>
                    <a:pt x="415036" y="510298"/>
                  </a:lnTo>
                  <a:lnTo>
                    <a:pt x="95262" y="510298"/>
                  </a:lnTo>
                  <a:lnTo>
                    <a:pt x="58185" y="502811"/>
                  </a:lnTo>
                  <a:lnTo>
                    <a:pt x="27905" y="482392"/>
                  </a:lnTo>
                  <a:lnTo>
                    <a:pt x="7487" y="452107"/>
                  </a:lnTo>
                  <a:lnTo>
                    <a:pt x="0" y="415023"/>
                  </a:lnTo>
                  <a:lnTo>
                    <a:pt x="0" y="95262"/>
                  </a:lnTo>
                  <a:close/>
                </a:path>
              </a:pathLst>
            </a:custGeom>
            <a:ln w="9525">
              <a:solidFill>
                <a:srgbClr val="C7C8CF"/>
              </a:solidFill>
            </a:ln>
          </p:spPr>
          <p:txBody>
            <a:bodyPr wrap="square" lIns="0" tIns="0" rIns="0" bIns="0" rtlCol="0"/>
            <a:lstStyle/>
            <a:p>
              <a:pPr defTabSz="761970"/>
              <a:endParaRPr sz="15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82969" y="3486342"/>
            <a:ext cx="181503" cy="350459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marL="10583" defTabSz="761970">
              <a:spcBef>
                <a:spcPts val="83"/>
              </a:spcBef>
            </a:pPr>
            <a:r>
              <a:rPr sz="2208" kern="0" spc="-262" dirty="0">
                <a:solidFill>
                  <a:sysClr val="windowText" lastClr="000000"/>
                </a:solidFill>
                <a:latin typeface="Arial Black"/>
                <a:cs typeface="Arial Black"/>
              </a:rPr>
              <a:t>2</a:t>
            </a:r>
            <a:endParaRPr sz="2208" kern="0">
              <a:solidFill>
                <a:sysClr val="windowText" lastClr="000000"/>
              </a:solidFill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08592" y="3561531"/>
            <a:ext cx="3677179" cy="708933"/>
          </a:xfrm>
          <a:prstGeom prst="rect">
            <a:avLst/>
          </a:prstGeom>
        </p:spPr>
        <p:txBody>
          <a:bodyPr vert="horz" wrap="square" lIns="0" tIns="10054" rIns="0" bIns="0" rtlCol="0">
            <a:spAutoFit/>
          </a:bodyPr>
          <a:lstStyle/>
          <a:p>
            <a:pPr marL="10583" defTabSz="761970">
              <a:spcBef>
                <a:spcPts val="79"/>
              </a:spcBef>
            </a:pPr>
            <a:r>
              <a:rPr sz="1833" b="1" kern="0" spc="-108" dirty="0">
                <a:solidFill>
                  <a:srgbClr val="0355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Day</a:t>
            </a:r>
            <a:r>
              <a:rPr sz="1833" b="1" kern="0" spc="-112" dirty="0">
                <a:solidFill>
                  <a:srgbClr val="0355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1833" b="1" kern="0" spc="-42" dirty="0">
                <a:solidFill>
                  <a:srgbClr val="0355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</a:t>
            </a:r>
            <a:endParaRPr sz="1833" b="1" kern="0" dirty="0">
              <a:solidFill>
                <a:srgbClr val="03558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0583" defTabSz="761970">
              <a:spcBef>
                <a:spcPts val="1470"/>
              </a:spcBef>
            </a:pPr>
            <a:r>
              <a:rPr lang="en-ID" sz="1458" kern="0" spc="62" dirty="0">
                <a:solidFill>
                  <a:srgbClr val="0355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</a:t>
            </a:r>
          </a:p>
        </p:txBody>
      </p:sp>
      <p:grpSp>
        <p:nvGrpSpPr>
          <p:cNvPr id="15" name="object 15"/>
          <p:cNvGrpSpPr/>
          <p:nvPr/>
        </p:nvGrpSpPr>
        <p:grpSpPr>
          <a:xfrm>
            <a:off x="657522" y="4628063"/>
            <a:ext cx="971021" cy="433388"/>
            <a:chOff x="789026" y="5553675"/>
            <a:chExt cx="1165225" cy="520065"/>
          </a:xfrm>
        </p:grpSpPr>
        <p:sp>
          <p:nvSpPr>
            <p:cNvPr id="16" name="object 16"/>
            <p:cNvSpPr/>
            <p:nvPr/>
          </p:nvSpPr>
          <p:spPr>
            <a:xfrm>
              <a:off x="1273611" y="5798343"/>
              <a:ext cx="680720" cy="30480"/>
            </a:xfrm>
            <a:custGeom>
              <a:avLst/>
              <a:gdLst/>
              <a:ahLst/>
              <a:cxnLst/>
              <a:rect l="l" t="t" r="r" b="b"/>
              <a:pathLst>
                <a:path w="680719" h="30479">
                  <a:moveTo>
                    <a:pt x="673620" y="0"/>
                  </a:moveTo>
                  <a:lnTo>
                    <a:pt x="6819" y="0"/>
                  </a:lnTo>
                  <a:lnTo>
                    <a:pt x="0" y="6819"/>
                  </a:lnTo>
                  <a:lnTo>
                    <a:pt x="0" y="15239"/>
                  </a:lnTo>
                  <a:lnTo>
                    <a:pt x="0" y="23660"/>
                  </a:lnTo>
                  <a:lnTo>
                    <a:pt x="6819" y="30479"/>
                  </a:lnTo>
                  <a:lnTo>
                    <a:pt x="673620" y="30479"/>
                  </a:lnTo>
                  <a:lnTo>
                    <a:pt x="680440" y="23660"/>
                  </a:lnTo>
                  <a:lnTo>
                    <a:pt x="680440" y="6819"/>
                  </a:lnTo>
                  <a:lnTo>
                    <a:pt x="673620" y="0"/>
                  </a:lnTo>
                  <a:close/>
                </a:path>
              </a:pathLst>
            </a:custGeom>
            <a:solidFill>
              <a:srgbClr val="C7C8CF"/>
            </a:solidFill>
          </p:spPr>
          <p:txBody>
            <a:bodyPr wrap="square" lIns="0" tIns="0" rIns="0" bIns="0" rtlCol="0"/>
            <a:lstStyle/>
            <a:p>
              <a:pPr defTabSz="761970"/>
              <a:endParaRPr sz="15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793789" y="5558438"/>
              <a:ext cx="510540" cy="510540"/>
            </a:xfrm>
            <a:custGeom>
              <a:avLst/>
              <a:gdLst/>
              <a:ahLst/>
              <a:cxnLst/>
              <a:rect l="l" t="t" r="r" b="b"/>
              <a:pathLst>
                <a:path w="510540" h="510539">
                  <a:moveTo>
                    <a:pt x="415036" y="0"/>
                  </a:moveTo>
                  <a:lnTo>
                    <a:pt x="95262" y="0"/>
                  </a:lnTo>
                  <a:lnTo>
                    <a:pt x="58185" y="7485"/>
                  </a:lnTo>
                  <a:lnTo>
                    <a:pt x="27905" y="27900"/>
                  </a:lnTo>
                  <a:lnTo>
                    <a:pt x="7487" y="58180"/>
                  </a:lnTo>
                  <a:lnTo>
                    <a:pt x="0" y="95262"/>
                  </a:lnTo>
                  <a:lnTo>
                    <a:pt x="0" y="415023"/>
                  </a:lnTo>
                  <a:lnTo>
                    <a:pt x="7487" y="452107"/>
                  </a:lnTo>
                  <a:lnTo>
                    <a:pt x="27905" y="482392"/>
                  </a:lnTo>
                  <a:lnTo>
                    <a:pt x="58185" y="502811"/>
                  </a:lnTo>
                  <a:lnTo>
                    <a:pt x="95262" y="510298"/>
                  </a:lnTo>
                  <a:lnTo>
                    <a:pt x="415036" y="510298"/>
                  </a:lnTo>
                  <a:lnTo>
                    <a:pt x="452118" y="502811"/>
                  </a:lnTo>
                  <a:lnTo>
                    <a:pt x="482398" y="482392"/>
                  </a:lnTo>
                  <a:lnTo>
                    <a:pt x="502813" y="452107"/>
                  </a:lnTo>
                  <a:lnTo>
                    <a:pt x="510298" y="415023"/>
                  </a:lnTo>
                  <a:lnTo>
                    <a:pt x="510298" y="95262"/>
                  </a:lnTo>
                  <a:lnTo>
                    <a:pt x="502813" y="58180"/>
                  </a:lnTo>
                  <a:lnTo>
                    <a:pt x="482398" y="27900"/>
                  </a:lnTo>
                  <a:lnTo>
                    <a:pt x="452118" y="7485"/>
                  </a:lnTo>
                  <a:lnTo>
                    <a:pt x="415036" y="0"/>
                  </a:lnTo>
                  <a:close/>
                </a:path>
              </a:pathLst>
            </a:custGeom>
            <a:solidFill>
              <a:srgbClr val="E1E2E9"/>
            </a:solidFill>
          </p:spPr>
          <p:txBody>
            <a:bodyPr wrap="square" lIns="0" tIns="0" rIns="0" bIns="0" rtlCol="0"/>
            <a:lstStyle/>
            <a:p>
              <a:pPr defTabSz="761970"/>
              <a:endParaRPr sz="15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793789" y="5558438"/>
              <a:ext cx="510540" cy="510540"/>
            </a:xfrm>
            <a:custGeom>
              <a:avLst/>
              <a:gdLst/>
              <a:ahLst/>
              <a:cxnLst/>
              <a:rect l="l" t="t" r="r" b="b"/>
              <a:pathLst>
                <a:path w="510540" h="510539">
                  <a:moveTo>
                    <a:pt x="0" y="95262"/>
                  </a:moveTo>
                  <a:lnTo>
                    <a:pt x="7487" y="58180"/>
                  </a:lnTo>
                  <a:lnTo>
                    <a:pt x="27905" y="27900"/>
                  </a:lnTo>
                  <a:lnTo>
                    <a:pt x="58185" y="7485"/>
                  </a:lnTo>
                  <a:lnTo>
                    <a:pt x="95262" y="0"/>
                  </a:lnTo>
                  <a:lnTo>
                    <a:pt x="415036" y="0"/>
                  </a:lnTo>
                  <a:lnTo>
                    <a:pt x="452118" y="7485"/>
                  </a:lnTo>
                  <a:lnTo>
                    <a:pt x="482398" y="27900"/>
                  </a:lnTo>
                  <a:lnTo>
                    <a:pt x="502813" y="58180"/>
                  </a:lnTo>
                  <a:lnTo>
                    <a:pt x="510298" y="95262"/>
                  </a:lnTo>
                  <a:lnTo>
                    <a:pt x="510298" y="415023"/>
                  </a:lnTo>
                  <a:lnTo>
                    <a:pt x="502813" y="452107"/>
                  </a:lnTo>
                  <a:lnTo>
                    <a:pt x="482398" y="482392"/>
                  </a:lnTo>
                  <a:lnTo>
                    <a:pt x="452118" y="502811"/>
                  </a:lnTo>
                  <a:lnTo>
                    <a:pt x="415036" y="510298"/>
                  </a:lnTo>
                  <a:lnTo>
                    <a:pt x="95262" y="510298"/>
                  </a:lnTo>
                  <a:lnTo>
                    <a:pt x="58185" y="502811"/>
                  </a:lnTo>
                  <a:lnTo>
                    <a:pt x="27905" y="482392"/>
                  </a:lnTo>
                  <a:lnTo>
                    <a:pt x="7487" y="452107"/>
                  </a:lnTo>
                  <a:lnTo>
                    <a:pt x="0" y="415023"/>
                  </a:lnTo>
                  <a:lnTo>
                    <a:pt x="0" y="95262"/>
                  </a:lnTo>
                  <a:close/>
                </a:path>
              </a:pathLst>
            </a:custGeom>
            <a:ln w="9525">
              <a:solidFill>
                <a:srgbClr val="C7C8CF"/>
              </a:solidFill>
            </a:ln>
          </p:spPr>
          <p:txBody>
            <a:bodyPr wrap="square" lIns="0" tIns="0" rIns="0" bIns="0" rtlCol="0"/>
            <a:lstStyle/>
            <a:p>
              <a:pPr defTabSz="761970"/>
              <a:endParaRPr sz="15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82969" y="4640355"/>
            <a:ext cx="181503" cy="350459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marL="10583" defTabSz="761970">
              <a:spcBef>
                <a:spcPts val="83"/>
              </a:spcBef>
            </a:pPr>
            <a:r>
              <a:rPr sz="2208" kern="0" spc="-262" dirty="0">
                <a:solidFill>
                  <a:sysClr val="windowText" lastClr="000000"/>
                </a:solidFill>
                <a:latin typeface="Arial Black"/>
                <a:cs typeface="Arial Black"/>
              </a:rPr>
              <a:t>3</a:t>
            </a:r>
            <a:endParaRPr sz="2208" kern="0">
              <a:solidFill>
                <a:sysClr val="windowText" lastClr="000000"/>
              </a:solidFill>
              <a:latin typeface="Arial Black"/>
              <a:cs typeface="Arial Black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08592" y="4715543"/>
            <a:ext cx="4394729" cy="708933"/>
          </a:xfrm>
          <a:prstGeom prst="rect">
            <a:avLst/>
          </a:prstGeom>
        </p:spPr>
        <p:txBody>
          <a:bodyPr vert="horz" wrap="square" lIns="0" tIns="10054" rIns="0" bIns="0" rtlCol="0">
            <a:spAutoFit/>
          </a:bodyPr>
          <a:lstStyle/>
          <a:p>
            <a:pPr marL="10583" defTabSz="761970">
              <a:spcBef>
                <a:spcPts val="79"/>
              </a:spcBef>
            </a:pPr>
            <a:r>
              <a:rPr sz="1833" b="1" kern="0" spc="-108" dirty="0">
                <a:solidFill>
                  <a:srgbClr val="0355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Day</a:t>
            </a:r>
            <a:r>
              <a:rPr sz="1833" b="1" kern="0" spc="-112" dirty="0">
                <a:solidFill>
                  <a:srgbClr val="0355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1833" b="1" kern="0" spc="-42" dirty="0">
                <a:solidFill>
                  <a:srgbClr val="0355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</a:t>
            </a:r>
            <a:endParaRPr sz="1833" b="1" kern="0" dirty="0">
              <a:solidFill>
                <a:srgbClr val="03558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0583" defTabSz="761970">
              <a:spcBef>
                <a:spcPts val="1470"/>
              </a:spcBef>
            </a:pPr>
            <a:r>
              <a:rPr lang="en-ID" sz="1458" kern="0" spc="62" dirty="0">
                <a:solidFill>
                  <a:srgbClr val="0355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DD91EC8-51FA-FE88-9D14-2CB31965EE33}"/>
              </a:ext>
            </a:extLst>
          </p:cNvPr>
          <p:cNvGrpSpPr/>
          <p:nvPr/>
        </p:nvGrpSpPr>
        <p:grpSpPr>
          <a:xfrm>
            <a:off x="166979" y="85422"/>
            <a:ext cx="2923261" cy="646331"/>
            <a:chOff x="223846" y="52156"/>
            <a:chExt cx="4520823" cy="981584"/>
          </a:xfrm>
        </p:grpSpPr>
        <p:pic>
          <p:nvPicPr>
            <p:cNvPr id="29" name="Picture 28" descr="MyValue: Info Promo Gramedia, Amaris, Santika, dan Rekanan KG">
              <a:extLst>
                <a:ext uri="{FF2B5EF4-FFF2-40B4-BE49-F238E27FC236}">
                  <a16:creationId xmlns:a16="http://schemas.microsoft.com/office/drawing/2014/main" id="{195C6B21-183A-9B55-B9D2-176866C39C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1529" y="293871"/>
              <a:ext cx="1299350" cy="3648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29" descr="Makara UI Academy">
              <a:extLst>
                <a:ext uri="{FF2B5EF4-FFF2-40B4-BE49-F238E27FC236}">
                  <a16:creationId xmlns:a16="http://schemas.microsoft.com/office/drawing/2014/main" id="{40E019ED-D824-7A58-BE9A-D0C631B0A6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4725" y="52156"/>
              <a:ext cx="1189944" cy="981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30" descr="A blue and white logo&#10;&#10;Description automatically generated">
              <a:extLst>
                <a:ext uri="{FF2B5EF4-FFF2-40B4-BE49-F238E27FC236}">
                  <a16:creationId xmlns:a16="http://schemas.microsoft.com/office/drawing/2014/main" id="{006A9AED-41AC-85E5-054E-26211D31E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3846" y="154231"/>
              <a:ext cx="1583837" cy="644090"/>
            </a:xfrm>
            <a:prstGeom prst="rect">
              <a:avLst/>
            </a:prstGeom>
          </p:spPr>
        </p:pic>
      </p:grpSp>
      <p:pic>
        <p:nvPicPr>
          <p:cNvPr id="32" name="Graphic 7">
            <a:extLst>
              <a:ext uri="{FF2B5EF4-FFF2-40B4-BE49-F238E27FC236}">
                <a16:creationId xmlns:a16="http://schemas.microsoft.com/office/drawing/2014/main" id="{A5F70A8B-893C-28D2-4A5A-E7D09C786D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1195430" y="6125028"/>
            <a:ext cx="996569" cy="66437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59C173D-B668-F04F-9A4A-BA49F7517555}"/>
              </a:ext>
            </a:extLst>
          </p:cNvPr>
          <p:cNvSpPr txBox="1"/>
          <p:nvPr/>
        </p:nvSpPr>
        <p:spPr>
          <a:xfrm>
            <a:off x="2015787" y="6488732"/>
            <a:ext cx="5744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/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Roboto" panose="02000000000000000000"/>
                <a:ea typeface="Gill Sans MT" pitchFamily="34" charset="0"/>
                <a:cs typeface="Gill Sans MT" pitchFamily="34" charset="0"/>
                <a:sym typeface="Gill Sans MT" pitchFamily="34" charset="0"/>
              </a:rPr>
              <a:t>CONFIDENTIAL AND PROPRIETARY © 2026  PT CYBERTREND INTRABUANA</a:t>
            </a:r>
            <a:endParaRPr lang="en-US" altLang="en-US" sz="800" b="1" dirty="0">
              <a:solidFill>
                <a:schemeClr val="accent1">
                  <a:lumMod val="75000"/>
                </a:schemeClr>
              </a:solidFill>
              <a:latin typeface="Roboto" panose="02000000000000000000"/>
              <a:ea typeface="Gill Sans MT" pitchFamily="34" charset="0"/>
              <a:cs typeface="Gill Sans MT" pitchFamily="34" charset="0"/>
              <a:sym typeface="Gill Sans MT" pitchFamily="34" charset="0"/>
            </a:endParaRPr>
          </a:p>
          <a:p>
            <a:pPr algn="r" defTabSz="914400"/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Roboto" panose="02000000000000000000"/>
                <a:ea typeface="Gill Sans MT" pitchFamily="34" charset="0"/>
                <a:cs typeface="Gill Sans MT" pitchFamily="34" charset="0"/>
                <a:sym typeface="Gill Sans MT" pitchFamily="34" charset="0"/>
              </a:rPr>
              <a:t>Copying in whole or in part is strictly forbidden without prior written approval</a:t>
            </a:r>
            <a:endParaRPr lang="en-US" altLang="en-US" sz="800" dirty="0">
              <a:solidFill>
                <a:schemeClr val="accent1">
                  <a:lumMod val="75000"/>
                </a:schemeClr>
              </a:solidFill>
              <a:latin typeface="Roboto" panose="02000000000000000000"/>
            </a:endParaRPr>
          </a:p>
          <a:p>
            <a:pPr algn="r" defTabSz="914400"/>
            <a:endParaRPr lang="en-US" sz="800" dirty="0">
              <a:solidFill>
                <a:schemeClr val="accent1">
                  <a:lumMod val="75000"/>
                </a:schemeClr>
              </a:solidFill>
              <a:latin typeface="Roboto" panose="020000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BCAB5C7-DFD7-4753-960F-A474FBEBEC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6199"/>
            <a:ext cx="12362439" cy="695039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3E17978-84F0-45C5-A2B1-073CD7F85AA1}"/>
              </a:ext>
            </a:extLst>
          </p:cNvPr>
          <p:cNvSpPr txBox="1"/>
          <p:nvPr/>
        </p:nvSpPr>
        <p:spPr>
          <a:xfrm>
            <a:off x="3661501" y="3507009"/>
            <a:ext cx="2591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AF5090-18C4-4442-A3C8-EBA7D9D1F5E1}"/>
              </a:ext>
            </a:extLst>
          </p:cNvPr>
          <p:cNvSpPr txBox="1"/>
          <p:nvPr/>
        </p:nvSpPr>
        <p:spPr>
          <a:xfrm>
            <a:off x="7397662" y="3469873"/>
            <a:ext cx="2591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06442-CEC9-47B5-99E4-2CAFFAEC6424}"/>
              </a:ext>
            </a:extLst>
          </p:cNvPr>
          <p:cNvSpPr txBox="1"/>
          <p:nvPr/>
        </p:nvSpPr>
        <p:spPr>
          <a:xfrm>
            <a:off x="2015787" y="6488732"/>
            <a:ext cx="5744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/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Roboto" panose="02000000000000000000"/>
                <a:ea typeface="Gill Sans MT" pitchFamily="34" charset="0"/>
                <a:cs typeface="Gill Sans MT" pitchFamily="34" charset="0"/>
                <a:sym typeface="Gill Sans MT" pitchFamily="34" charset="0"/>
              </a:rPr>
              <a:t>CONFIDENTIAL AND PROPRIETARY © 2026  PT CYBERTREND INTRABUANA</a:t>
            </a:r>
            <a:endParaRPr lang="en-US" altLang="en-US" sz="800" b="1" dirty="0">
              <a:solidFill>
                <a:schemeClr val="accent1">
                  <a:lumMod val="75000"/>
                </a:schemeClr>
              </a:solidFill>
              <a:latin typeface="Roboto" panose="02000000000000000000"/>
              <a:ea typeface="Gill Sans MT" pitchFamily="34" charset="0"/>
              <a:cs typeface="Gill Sans MT" pitchFamily="34" charset="0"/>
              <a:sym typeface="Gill Sans MT" pitchFamily="34" charset="0"/>
            </a:endParaRPr>
          </a:p>
          <a:p>
            <a:pPr algn="r" defTabSz="914400"/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Roboto" panose="02000000000000000000"/>
                <a:ea typeface="Gill Sans MT" pitchFamily="34" charset="0"/>
                <a:cs typeface="Gill Sans MT" pitchFamily="34" charset="0"/>
                <a:sym typeface="Gill Sans MT" pitchFamily="34" charset="0"/>
              </a:rPr>
              <a:t>Copying in whole or in part is strictly forbidden without prior written approval</a:t>
            </a:r>
            <a:endParaRPr lang="en-US" altLang="en-US" sz="800" dirty="0">
              <a:solidFill>
                <a:schemeClr val="accent1">
                  <a:lumMod val="75000"/>
                </a:schemeClr>
              </a:solidFill>
              <a:latin typeface="Roboto" panose="02000000000000000000"/>
            </a:endParaRPr>
          </a:p>
          <a:p>
            <a:pPr algn="r" defTabSz="914400"/>
            <a:endParaRPr lang="en-US" sz="800" dirty="0">
              <a:solidFill>
                <a:schemeClr val="accent1">
                  <a:lumMod val="75000"/>
                </a:schemeClr>
              </a:solidFill>
              <a:latin typeface="Roboto" panose="0200000000000000000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07C878-902B-CEF6-DA9E-742F6F6C9702}"/>
              </a:ext>
            </a:extLst>
          </p:cNvPr>
          <p:cNvSpPr txBox="1"/>
          <p:nvPr/>
        </p:nvSpPr>
        <p:spPr>
          <a:xfrm>
            <a:off x="98189" y="2344104"/>
            <a:ext cx="11995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3600" b="1" dirty="0">
                <a:solidFill>
                  <a:srgbClr val="0355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Title</a:t>
            </a:r>
            <a:endParaRPr lang="en-GB" sz="3600" b="1" dirty="0">
              <a:solidFill>
                <a:srgbClr val="03558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33816A6-428C-E38F-E7A2-95941CFAACAB}"/>
              </a:ext>
            </a:extLst>
          </p:cNvPr>
          <p:cNvGrpSpPr/>
          <p:nvPr/>
        </p:nvGrpSpPr>
        <p:grpSpPr>
          <a:xfrm>
            <a:off x="190053" y="25049"/>
            <a:ext cx="2923261" cy="646331"/>
            <a:chOff x="223846" y="52156"/>
            <a:chExt cx="4520823" cy="981584"/>
          </a:xfrm>
        </p:grpSpPr>
        <p:pic>
          <p:nvPicPr>
            <p:cNvPr id="3" name="Picture 2" descr="MyValue: Info Promo Gramedia, Amaris, Santika, dan Rekanan KG">
              <a:extLst>
                <a:ext uri="{FF2B5EF4-FFF2-40B4-BE49-F238E27FC236}">
                  <a16:creationId xmlns:a16="http://schemas.microsoft.com/office/drawing/2014/main" id="{1CB59BD6-CC27-A592-82CA-107DF9B28A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1529" y="293871"/>
              <a:ext cx="1299350" cy="3648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Makara UI Academy">
              <a:extLst>
                <a:ext uri="{FF2B5EF4-FFF2-40B4-BE49-F238E27FC236}">
                  <a16:creationId xmlns:a16="http://schemas.microsoft.com/office/drawing/2014/main" id="{715320E4-F11D-9857-2EA3-1E7D6F75DC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4725" y="52156"/>
              <a:ext cx="1189944" cy="981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A blue and white logo&#10;&#10;Description automatically generated">
              <a:extLst>
                <a:ext uri="{FF2B5EF4-FFF2-40B4-BE49-F238E27FC236}">
                  <a16:creationId xmlns:a16="http://schemas.microsoft.com/office/drawing/2014/main" id="{2A8302F3-A027-09B5-4AE7-07387DD63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3846" y="154231"/>
              <a:ext cx="1583837" cy="644090"/>
            </a:xfrm>
            <a:prstGeom prst="rect">
              <a:avLst/>
            </a:prstGeom>
          </p:spPr>
        </p:pic>
      </p:grpSp>
      <p:pic>
        <p:nvPicPr>
          <p:cNvPr id="11" name="Graphic 7">
            <a:extLst>
              <a:ext uri="{FF2B5EF4-FFF2-40B4-BE49-F238E27FC236}">
                <a16:creationId xmlns:a16="http://schemas.microsoft.com/office/drawing/2014/main" id="{442A0E02-42B7-07D2-94E8-406A441F5F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11195430" y="6125028"/>
            <a:ext cx="996569" cy="664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273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784" y="821756"/>
            <a:ext cx="9110432" cy="1115412"/>
          </a:xfrm>
          <a:prstGeom prst="rect">
            <a:avLst/>
          </a:prstGeom>
        </p:spPr>
        <p:txBody>
          <a:bodyPr vert="horz" wrap="square" lIns="0" tIns="495533" rIns="0" bIns="0" rtlCol="0">
            <a:spAutoFit/>
          </a:bodyPr>
          <a:lstStyle/>
          <a:p>
            <a:pPr marL="31749">
              <a:spcBef>
                <a:spcPts val="83"/>
              </a:spcBef>
            </a:pPr>
            <a:r>
              <a:rPr lang="en-US" b="1" spc="-246" dirty="0">
                <a:solidFill>
                  <a:srgbClr val="0355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Title</a:t>
            </a:r>
            <a:endParaRPr b="1" spc="-167" dirty="0">
              <a:solidFill>
                <a:srgbClr val="03558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4784" y="2064929"/>
            <a:ext cx="4045479" cy="234509"/>
          </a:xfrm>
          <a:prstGeom prst="rect">
            <a:avLst/>
          </a:prstGeom>
        </p:spPr>
        <p:txBody>
          <a:bodyPr vert="horz" wrap="square" lIns="0" tIns="10054" rIns="0" bIns="0" rtlCol="0">
            <a:spAutoFit/>
          </a:bodyPr>
          <a:lstStyle/>
          <a:p>
            <a:pPr marL="10583" defTabSz="761970">
              <a:spcBef>
                <a:spcPts val="1470"/>
              </a:spcBef>
            </a:pPr>
            <a:r>
              <a:rPr lang="en-ID" sz="1458" kern="0" spc="62" dirty="0">
                <a:solidFill>
                  <a:srgbClr val="0355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</a:t>
            </a:r>
          </a:p>
        </p:txBody>
      </p:sp>
      <p:pic>
        <p:nvPicPr>
          <p:cNvPr id="23" name="Graphic 7">
            <a:extLst>
              <a:ext uri="{FF2B5EF4-FFF2-40B4-BE49-F238E27FC236}">
                <a16:creationId xmlns:a16="http://schemas.microsoft.com/office/drawing/2014/main" id="{FB5E2D0C-295F-A798-284C-C8855CD9C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1195430" y="6125028"/>
            <a:ext cx="996569" cy="664379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5DD91EC8-51FA-FE88-9D14-2CB31965EE33}"/>
              </a:ext>
            </a:extLst>
          </p:cNvPr>
          <p:cNvGrpSpPr/>
          <p:nvPr/>
        </p:nvGrpSpPr>
        <p:grpSpPr>
          <a:xfrm>
            <a:off x="166979" y="85422"/>
            <a:ext cx="2923261" cy="646331"/>
            <a:chOff x="223846" y="52156"/>
            <a:chExt cx="4520823" cy="981584"/>
          </a:xfrm>
        </p:grpSpPr>
        <p:pic>
          <p:nvPicPr>
            <p:cNvPr id="29" name="Picture 28" descr="MyValue: Info Promo Gramedia, Amaris, Santika, dan Rekanan KG">
              <a:extLst>
                <a:ext uri="{FF2B5EF4-FFF2-40B4-BE49-F238E27FC236}">
                  <a16:creationId xmlns:a16="http://schemas.microsoft.com/office/drawing/2014/main" id="{195C6B21-183A-9B55-B9D2-176866C39C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1529" y="293871"/>
              <a:ext cx="1299350" cy="3648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29" descr="Makara UI Academy">
              <a:extLst>
                <a:ext uri="{FF2B5EF4-FFF2-40B4-BE49-F238E27FC236}">
                  <a16:creationId xmlns:a16="http://schemas.microsoft.com/office/drawing/2014/main" id="{40E019ED-D824-7A58-BE9A-D0C631B0A6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4725" y="52156"/>
              <a:ext cx="1189944" cy="981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30" descr="A blue and white logo&#10;&#10;Description automatically generated">
              <a:extLst>
                <a:ext uri="{FF2B5EF4-FFF2-40B4-BE49-F238E27FC236}">
                  <a16:creationId xmlns:a16="http://schemas.microsoft.com/office/drawing/2014/main" id="{006A9AED-41AC-85E5-054E-26211D31E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3846" y="154231"/>
              <a:ext cx="1583837" cy="644090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C63F94D-FDDC-A452-3AA9-F395B5995517}"/>
              </a:ext>
            </a:extLst>
          </p:cNvPr>
          <p:cNvSpPr txBox="1"/>
          <p:nvPr/>
        </p:nvSpPr>
        <p:spPr>
          <a:xfrm>
            <a:off x="2015787" y="6488732"/>
            <a:ext cx="5744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/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Roboto" panose="02000000000000000000"/>
                <a:ea typeface="Gill Sans MT" pitchFamily="34" charset="0"/>
                <a:cs typeface="Gill Sans MT" pitchFamily="34" charset="0"/>
                <a:sym typeface="Gill Sans MT" pitchFamily="34" charset="0"/>
              </a:rPr>
              <a:t>CONFIDENTIAL AND PROPRIETARY © 2026  PT CYBERTREND INTRABUANA</a:t>
            </a:r>
            <a:endParaRPr lang="en-US" altLang="en-US" sz="800" b="1" dirty="0">
              <a:solidFill>
                <a:schemeClr val="accent1">
                  <a:lumMod val="75000"/>
                </a:schemeClr>
              </a:solidFill>
              <a:latin typeface="Roboto" panose="02000000000000000000"/>
              <a:ea typeface="Gill Sans MT" pitchFamily="34" charset="0"/>
              <a:cs typeface="Gill Sans MT" pitchFamily="34" charset="0"/>
              <a:sym typeface="Gill Sans MT" pitchFamily="34" charset="0"/>
            </a:endParaRPr>
          </a:p>
          <a:p>
            <a:pPr algn="r" defTabSz="914400"/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Roboto" panose="02000000000000000000"/>
                <a:ea typeface="Gill Sans MT" pitchFamily="34" charset="0"/>
                <a:cs typeface="Gill Sans MT" pitchFamily="34" charset="0"/>
                <a:sym typeface="Gill Sans MT" pitchFamily="34" charset="0"/>
              </a:rPr>
              <a:t>Copying in whole or in part is strictly forbidden without prior written approval</a:t>
            </a:r>
            <a:endParaRPr lang="en-US" altLang="en-US" sz="800" dirty="0">
              <a:solidFill>
                <a:schemeClr val="accent1">
                  <a:lumMod val="75000"/>
                </a:schemeClr>
              </a:solidFill>
              <a:latin typeface="Roboto" panose="02000000000000000000"/>
            </a:endParaRPr>
          </a:p>
          <a:p>
            <a:pPr algn="r" defTabSz="914400"/>
            <a:endParaRPr lang="en-US" sz="800" dirty="0">
              <a:solidFill>
                <a:schemeClr val="accent1">
                  <a:lumMod val="75000"/>
                </a:schemeClr>
              </a:solidFill>
              <a:latin typeface="Roboto" panose="020000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3302925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903" y="3399769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/>
          <a:p>
            <a:pPr marL="31749" algn="ctr"/>
            <a:r>
              <a:rPr lang="en-US" sz="5400" b="1" kern="1200" spc="-125" dirty="0">
                <a:solidFill>
                  <a:srgbClr val="0355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Thank You.</a:t>
            </a:r>
            <a:endParaRPr lang="en-US" sz="5400" b="1" kern="1200" spc="-287" dirty="0">
              <a:solidFill>
                <a:srgbClr val="03558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1DFFEE2-A29C-AB80-069B-3DEFD58D8504}"/>
              </a:ext>
            </a:extLst>
          </p:cNvPr>
          <p:cNvGrpSpPr/>
          <p:nvPr/>
        </p:nvGrpSpPr>
        <p:grpSpPr>
          <a:xfrm>
            <a:off x="1185161" y="887190"/>
            <a:ext cx="9821371" cy="1972702"/>
            <a:chOff x="223846" y="52156"/>
            <a:chExt cx="4520823" cy="981584"/>
          </a:xfrm>
        </p:grpSpPr>
        <p:pic>
          <p:nvPicPr>
            <p:cNvPr id="8" name="Picture 7" descr="MyValue: Info Promo Gramedia, Amaris, Santika, dan Rekanan KG">
              <a:extLst>
                <a:ext uri="{FF2B5EF4-FFF2-40B4-BE49-F238E27FC236}">
                  <a16:creationId xmlns:a16="http://schemas.microsoft.com/office/drawing/2014/main" id="{8811FFBD-C70D-3CDA-4FD3-0E4E42D91F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1529" y="293871"/>
              <a:ext cx="1299350" cy="3648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Makara UI Academy">
              <a:extLst>
                <a:ext uri="{FF2B5EF4-FFF2-40B4-BE49-F238E27FC236}">
                  <a16:creationId xmlns:a16="http://schemas.microsoft.com/office/drawing/2014/main" id="{941173AF-5C75-9E5D-500C-2C0C48C176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4725" y="52156"/>
              <a:ext cx="1189944" cy="981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A blue and white logo&#10;&#10;Description automatically generated">
              <a:extLst>
                <a:ext uri="{FF2B5EF4-FFF2-40B4-BE49-F238E27FC236}">
                  <a16:creationId xmlns:a16="http://schemas.microsoft.com/office/drawing/2014/main" id="{855E0FDB-3936-33E9-5EEA-0FD24B1FF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3846" y="154231"/>
              <a:ext cx="1583837" cy="644090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E373891-C74B-45FF-4626-F19052BE20F8}"/>
              </a:ext>
            </a:extLst>
          </p:cNvPr>
          <p:cNvSpPr txBox="1"/>
          <p:nvPr/>
        </p:nvSpPr>
        <p:spPr>
          <a:xfrm>
            <a:off x="2015787" y="6488732"/>
            <a:ext cx="5744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/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Roboto" panose="02000000000000000000"/>
                <a:ea typeface="Gill Sans MT" pitchFamily="34" charset="0"/>
                <a:cs typeface="Gill Sans MT" pitchFamily="34" charset="0"/>
                <a:sym typeface="Gill Sans MT" pitchFamily="34" charset="0"/>
              </a:rPr>
              <a:t>CONFIDENTIAL AND PROPRIETARY © 2026  PT CYBERTREND INTRABUANA</a:t>
            </a:r>
            <a:endParaRPr lang="en-US" altLang="en-US" sz="800" b="1" dirty="0">
              <a:solidFill>
                <a:schemeClr val="accent1">
                  <a:lumMod val="75000"/>
                </a:schemeClr>
              </a:solidFill>
              <a:latin typeface="Roboto" panose="02000000000000000000"/>
              <a:ea typeface="Gill Sans MT" pitchFamily="34" charset="0"/>
              <a:cs typeface="Gill Sans MT" pitchFamily="34" charset="0"/>
              <a:sym typeface="Gill Sans MT" pitchFamily="34" charset="0"/>
            </a:endParaRPr>
          </a:p>
          <a:p>
            <a:pPr algn="r" defTabSz="914400"/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Roboto" panose="02000000000000000000"/>
                <a:ea typeface="Gill Sans MT" pitchFamily="34" charset="0"/>
                <a:cs typeface="Gill Sans MT" pitchFamily="34" charset="0"/>
                <a:sym typeface="Gill Sans MT" pitchFamily="34" charset="0"/>
              </a:rPr>
              <a:t>Copying in whole or in part is strictly forbidden without prior written approval</a:t>
            </a:r>
            <a:endParaRPr lang="en-US" altLang="en-US" sz="800" dirty="0">
              <a:solidFill>
                <a:schemeClr val="accent1">
                  <a:lumMod val="75000"/>
                </a:schemeClr>
              </a:solidFill>
              <a:latin typeface="Roboto" panose="02000000000000000000"/>
            </a:endParaRPr>
          </a:p>
          <a:p>
            <a:pPr algn="r" defTabSz="914400"/>
            <a:endParaRPr lang="en-US" sz="800" dirty="0">
              <a:solidFill>
                <a:schemeClr val="accent1">
                  <a:lumMod val="75000"/>
                </a:schemeClr>
              </a:solidFill>
              <a:latin typeface="Roboto" panose="020000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1870</TotalTime>
  <Words>151</Words>
  <Application>Microsoft Office PowerPoint</Application>
  <PresentationFormat>Widescreen</PresentationFormat>
  <Paragraphs>31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Poppins</vt:lpstr>
      <vt:lpstr>Roboto</vt:lpstr>
      <vt:lpstr>Office Theme</vt:lpstr>
      <vt:lpstr>PowerPoint Presentation</vt:lpstr>
      <vt:lpstr>Course Overview</vt:lpstr>
      <vt:lpstr>PowerPoint Presentation</vt:lpstr>
      <vt:lpstr>Title</vt:lpstr>
      <vt:lpstr>Thank You.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Muhamad AliSafitrah</cp:lastModifiedBy>
  <cp:revision>24</cp:revision>
  <dcterms:created xsi:type="dcterms:W3CDTF">2023-09-25T07:45:13Z</dcterms:created>
  <dcterms:modified xsi:type="dcterms:W3CDTF">2026-01-21T09:28:58Z</dcterms:modified>
</cp:coreProperties>
</file>